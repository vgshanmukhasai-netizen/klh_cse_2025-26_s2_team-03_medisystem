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92440" y="548640"/>
            <a:ext cx="3200400" cy="3200400"/>
          </a:xfrm>
          <a:prstGeom prst="ellipse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1080" y="1097280"/>
            <a:ext cx="2103120" cy="2103120"/>
          </a:xfrm>
          <a:prstGeom prst="ellipse">
            <a:avLst/>
          </a:prstGeom>
          <a:solidFill>
            <a:srgbClr val="1B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82328" y="1508760"/>
            <a:ext cx="274320" cy="128016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79408" y="2011680"/>
            <a:ext cx="1280160" cy="27432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603504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BBEAA"/>
                </a:solidFill>
                <a:latin typeface="Aptos"/>
              </a:defRPr>
            </a:pPr>
            <a:r>
              <a:t>DATA STRUCTURES &amp; ALGORITHMS —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640080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3800" b="1">
                <a:solidFill>
                  <a:srgbClr val="F8FBFF"/>
                </a:solidFill>
                <a:latin typeface="Aptos"/>
              </a:defRPr>
            </a:pPr>
            <a:r>
              <a:t>MediSearch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057400"/>
            <a:ext cx="6766560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2500" b="1">
                <a:solidFill>
                  <a:srgbClr val="C9F7EC"/>
                </a:solidFill>
                <a:latin typeface="Aptos"/>
              </a:defRPr>
            </a:pPr>
            <a:r>
              <a:t>Intelligent Medical Information</a:t>
            </a:r>
          </a:p>
          <a:p>
            <a:pPr algn="l">
              <a:spcAft>
                <a:spcPts val="600"/>
              </a:spcAft>
              <a:defRPr sz="2500" b="1">
                <a:solidFill>
                  <a:srgbClr val="C9F7EC"/>
                </a:solidFill>
                <a:latin typeface="Aptos"/>
              </a:defRPr>
            </a:pPr>
            <a:r>
              <a:t>Retrieval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429000"/>
            <a:ext cx="62179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AEC0D4"/>
                </a:solidFill>
                <a:latin typeface="Aptos"/>
              </a:defRPr>
            </a:pPr>
            <a:r>
              <a:t>A DSA-based application for searching and exploring synthetic patient records.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" y="4251960"/>
            <a:ext cx="640080" cy="50292"/>
          </a:xfrm>
          <a:prstGeom prst="rect">
            <a:avLst/>
          </a:prstGeom>
          <a:solidFill>
            <a:srgbClr val="1B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4526280"/>
            <a:ext cx="2194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1BBEAA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4864608"/>
            <a:ext cx="667512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8FBFF"/>
                </a:solidFill>
                <a:latin typeface="Aptos"/>
              </a:defRPr>
            </a:pPr>
            <a:r>
              <a:t>2520030065  •  M. Vignesh</a:t>
            </a:r>
          </a:p>
          <a:p>
            <a:pPr algn="l">
              <a:spcAft>
                <a:spcPts val="600"/>
              </a:spcAft>
              <a:defRPr sz="1500" b="1">
                <a:solidFill>
                  <a:srgbClr val="F8FBFF"/>
                </a:solidFill>
                <a:latin typeface="Aptos"/>
              </a:defRPr>
            </a:pPr>
            <a:r>
              <a:t>2520030341  •  V. G. Shanumukha Sai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5989320"/>
            <a:ext cx="7315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AEC0D4"/>
                </a:solidFill>
                <a:latin typeface="Aptos"/>
              </a:defRPr>
            </a:pPr>
            <a:r>
              <a:t>Koneru Lakshmaiah Education Foundation  | 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411480" cy="50292"/>
          </a:xfrm>
          <a:prstGeom prst="rect">
            <a:avLst/>
          </a:prstGeom>
          <a:solidFill>
            <a:srgbClr val="1B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1BBEAA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AEC0D4"/>
                </a:solidFill>
                <a:latin typeface="Aptos"/>
              </a:defRPr>
            </a:pPr>
            <a:r>
              <a:t>02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4572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EC0D4"/>
                </a:solidFill>
                <a:latin typeface="Aptos"/>
              </a:defRPr>
            </a:pPr>
            <a:r>
              <a:t>MEDISEARCH  •  DSA-3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43000"/>
            <a:ext cx="82296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8FBFF"/>
                </a:solidFill>
                <a:latin typeface="Aptos"/>
              </a:defRPr>
            </a:pPr>
            <a:r>
              <a:t>Making patient-record search simpler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96012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AEC0D4"/>
                </a:solidFill>
                <a:latin typeface="Aptos"/>
              </a:defRPr>
            </a:pPr>
            <a:r>
              <a:t>MediSearch combines patient-record lookup with Data Structures and Algorithms demonstrations.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14600"/>
            <a:ext cx="3429000" cy="1874519"/>
          </a:xfrm>
          <a:prstGeom prst="round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514600"/>
            <a:ext cx="54864" cy="1874519"/>
          </a:xfrm>
          <a:prstGeom prst="rect">
            <a:avLst/>
          </a:prstGeom>
          <a:solidFill>
            <a:srgbClr val="1B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651760"/>
            <a:ext cx="30632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8FBFF"/>
                </a:solidFill>
                <a:latin typeface="Aptos"/>
              </a:defRPr>
            </a:pPr>
            <a:r>
              <a:t>01 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35808"/>
            <a:ext cx="3044952" cy="1280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C0D4"/>
                </a:solidFill>
                <a:latin typeface="Aptos"/>
              </a:defRPr>
            </a:pPr>
            <a:r>
              <a:t>Search synthetic patient records using selected string-matching algorithms.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514600"/>
            <a:ext cx="3429000" cy="1874519"/>
          </a:xfrm>
          <a:prstGeom prst="round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2514600"/>
            <a:ext cx="54864" cy="1874519"/>
          </a:xfrm>
          <a:prstGeom prst="rect">
            <a:avLst/>
          </a:prstGeom>
          <a:solidFill>
            <a:srgbClr val="4E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651760"/>
            <a:ext cx="30632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8FBFF"/>
                </a:solidFill>
                <a:latin typeface="Aptos"/>
              </a:defRPr>
            </a:pPr>
            <a:r>
              <a:t>02  Explore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035808"/>
            <a:ext cx="3044952" cy="1280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C0D4"/>
                </a:solidFill>
                <a:latin typeface="Aptos"/>
              </a:defRPr>
            </a:pPr>
            <a:r>
              <a:t>View patient details, disease information, severity and status.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514600"/>
            <a:ext cx="3429000" cy="1874519"/>
          </a:xfrm>
          <a:prstGeom prst="round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514600"/>
            <a:ext cx="54864" cy="1874519"/>
          </a:xfrm>
          <a:prstGeom prst="rect">
            <a:avLst/>
          </a:prstGeom>
          <a:solidFill>
            <a:srgbClr val="FF8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651760"/>
            <a:ext cx="30632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8FBFF"/>
                </a:solidFill>
                <a:latin typeface="Aptos"/>
              </a:defRPr>
            </a:pPr>
            <a:r>
              <a:t>03  Learn DSA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3035808"/>
            <a:ext cx="3044952" cy="1280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C0D4"/>
                </a:solidFill>
                <a:latin typeface="Aptos"/>
              </a:defRPr>
            </a:pPr>
            <a:r>
              <a:t>Run more algorithm demonstrations through the Java console.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892040"/>
            <a:ext cx="1828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1BBEAA"/>
                </a:solidFill>
                <a:latin typeface="Aptos"/>
              </a:defRPr>
            </a:pPr>
            <a:r>
              <a:t>PROJECT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230368"/>
            <a:ext cx="105156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8FBFF"/>
                </a:solidFill>
                <a:latin typeface="Aptos"/>
              </a:defRPr>
            </a:pPr>
            <a:r>
              <a:t>230 synthetic text records  •  Local web dashboard  •  Java algorithm toolkit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806440"/>
            <a:ext cx="91440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C0D4"/>
                </a:solidFill>
                <a:latin typeface="Aptos"/>
              </a:defRPr>
            </a:pPr>
            <a:r>
              <a:t>Note: records are synthetic and are not real medical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411480" cy="50292"/>
          </a:xfrm>
          <a:prstGeom prst="rect">
            <a:avLst/>
          </a:prstGeom>
          <a:solidFill>
            <a:srgbClr val="1B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1BBEAA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AEC0D4"/>
                </a:solidFill>
                <a:latin typeface="Aptos"/>
              </a:defRPr>
            </a:pPr>
            <a:r>
              <a:t>03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4572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EC0D4"/>
                </a:solidFill>
                <a:latin typeface="Aptos"/>
              </a:defRPr>
            </a:pPr>
            <a:r>
              <a:t>MEDISEARCH  •  DSA-3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43000"/>
            <a:ext cx="91440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F8FBFF"/>
                </a:solidFill>
                <a:latin typeface="Aptos"/>
              </a:defRPr>
            </a:pPr>
            <a:r>
              <a:t>Why is a focused search system useful?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96012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AEC0D4"/>
                </a:solidFill>
                <a:latin typeface="Aptos"/>
              </a:defRPr>
            </a:pPr>
            <a:r>
              <a:t>Manually finding information inside many text records can take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331720"/>
            <a:ext cx="5074920" cy="1234440"/>
          </a:xfrm>
          <a:prstGeom prst="round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331720"/>
            <a:ext cx="54864" cy="1234440"/>
          </a:xfrm>
          <a:prstGeom prst="rect">
            <a:avLst/>
          </a:prstGeom>
          <a:solidFill>
            <a:srgbClr val="1B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68879"/>
            <a:ext cx="4709159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8FBFF"/>
                </a:solidFill>
                <a:latin typeface="Aptos"/>
              </a:defRPr>
            </a:pPr>
            <a:r>
              <a:t>Scattered 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52927"/>
            <a:ext cx="4690872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C0D4"/>
                </a:solidFill>
                <a:latin typeface="Aptos"/>
              </a:defRPr>
            </a:pPr>
            <a:r>
              <a:t>Important fields may be buried inside long patient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074920" cy="1234440"/>
          </a:xfrm>
          <a:prstGeom prst="round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331720"/>
            <a:ext cx="54864" cy="1234440"/>
          </a:xfrm>
          <a:prstGeom prst="rect">
            <a:avLst/>
          </a:prstGeom>
          <a:solidFill>
            <a:srgbClr val="4E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468879"/>
            <a:ext cx="4709159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8FBFF"/>
                </a:solidFill>
                <a:latin typeface="Aptos"/>
              </a:defRPr>
            </a:pPr>
            <a:r>
              <a:t>Manual effort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852927"/>
            <a:ext cx="4690872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C0D4"/>
                </a:solidFill>
                <a:latin typeface="Aptos"/>
              </a:defRPr>
            </a:pPr>
            <a:r>
              <a:t>Finding a name, disease or symptom can take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886200"/>
            <a:ext cx="5074920" cy="1234440"/>
          </a:xfrm>
          <a:prstGeom prst="round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886200"/>
            <a:ext cx="54864" cy="1234440"/>
          </a:xfrm>
          <a:prstGeom prst="rect">
            <a:avLst/>
          </a:prstGeom>
          <a:solidFill>
            <a:srgbClr val="FF8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23360"/>
            <a:ext cx="4709159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8FBFF"/>
                </a:solidFill>
                <a:latin typeface="Aptos"/>
              </a:defRPr>
            </a:pPr>
            <a:r>
              <a:t>Algorithm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07408"/>
            <a:ext cx="4690872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C0D4"/>
                </a:solidFill>
                <a:latin typeface="Aptos"/>
              </a:defRPr>
            </a:pPr>
            <a:r>
              <a:t>It can be difficult to compare different search methods.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886200"/>
            <a:ext cx="5074920" cy="1234440"/>
          </a:xfrm>
          <a:prstGeom prst="round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886200"/>
            <a:ext cx="54864" cy="1234440"/>
          </a:xfrm>
          <a:prstGeom prst="rect">
            <a:avLst/>
          </a:prstGeom>
          <a:solidFill>
            <a:srgbClr val="1B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023360"/>
            <a:ext cx="4709159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8FBFF"/>
                </a:solidFill>
                <a:latin typeface="Aptos"/>
              </a:defRPr>
            </a:pPr>
            <a:r>
              <a:t>Clear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407408"/>
            <a:ext cx="4690872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C0D4"/>
                </a:solidFill>
                <a:latin typeface="Aptos"/>
              </a:defRPr>
            </a:pPr>
            <a:r>
              <a:t>Users need organized matches, filters and record details.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15000"/>
            <a:ext cx="107899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C9F7EC"/>
                </a:solidFill>
                <a:latin typeface="Aptos"/>
              </a:defRPr>
            </a:pPr>
            <a:r>
              <a:t>Project focus: improve record discovery and demonstrate DSA—not diagnose patients.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411480" cy="50292"/>
          </a:xfrm>
          <a:prstGeom prst="rect">
            <a:avLst/>
          </a:prstGeom>
          <a:solidFill>
            <a:srgbClr val="1B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1BBEAA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AEC0D4"/>
                </a:solidFill>
                <a:latin typeface="Aptos"/>
              </a:defRPr>
            </a:pPr>
            <a:r>
              <a:t>04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4572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EC0D4"/>
                </a:solidFill>
                <a:latin typeface="Aptos"/>
              </a:defRPr>
            </a:pPr>
            <a:r>
              <a:t>MEDISEARCH  •  DSA-3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43000"/>
            <a:ext cx="88696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8FBFF"/>
                </a:solidFill>
                <a:latin typeface="Aptos"/>
              </a:defRPr>
            </a:pPr>
            <a:r>
              <a:t>One workflow. Multiple search methods.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2578608" cy="1828800"/>
          </a:xfrm>
          <a:prstGeom prst="round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514600"/>
            <a:ext cx="594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1BBEA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971800"/>
            <a:ext cx="22402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8FBFF"/>
                </a:solidFill>
                <a:latin typeface="Aptos"/>
              </a:defRPr>
            </a:pPr>
            <a:r>
              <a:t>Load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401568"/>
            <a:ext cx="224028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C0D4"/>
                </a:solidFill>
                <a:latin typeface="Aptos"/>
              </a:defRPr>
            </a:pPr>
            <a:r>
              <a:t>Read the synthetic patient corpus.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55263" y="2971800"/>
            <a:ext cx="25603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BBE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47872" y="2331720"/>
            <a:ext cx="2578608" cy="1828800"/>
          </a:xfrm>
          <a:prstGeom prst="round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2463" y="2514600"/>
            <a:ext cx="594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1BBEA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2463" y="2971800"/>
            <a:ext cx="22402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8FBFF"/>
                </a:solidFill>
                <a:latin typeface="Aptos"/>
              </a:defRPr>
            </a:pPr>
            <a:r>
              <a:t>Enter 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3" y="3401568"/>
            <a:ext cx="224028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C0D4"/>
                </a:solidFill>
                <a:latin typeface="Aptos"/>
              </a:defRPr>
            </a:pPr>
            <a:r>
              <a:t>Type a name, disease, symptom or keyword.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2971800"/>
            <a:ext cx="25603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BBE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37376" y="2331720"/>
            <a:ext cx="2578608" cy="1828800"/>
          </a:xfrm>
          <a:prstGeom prst="round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2514600"/>
            <a:ext cx="594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1BBEA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971800"/>
            <a:ext cx="22402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8FBFF"/>
                </a:solidFill>
                <a:latin typeface="Aptos"/>
              </a:defRPr>
            </a:pPr>
            <a:r>
              <a:t>Choose 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3401568"/>
            <a:ext cx="224028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C0D4"/>
                </a:solidFill>
                <a:latin typeface="Aptos"/>
              </a:defRPr>
            </a:pPr>
            <a:r>
              <a:t>Select KMP, Rabin–Karp or Suffix Array.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2971800"/>
            <a:ext cx="25603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BBE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2331720"/>
            <a:ext cx="2578608" cy="1828800"/>
          </a:xfrm>
          <a:prstGeom prst="round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91472" y="2514600"/>
            <a:ext cx="594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1BBEA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1472" y="2971800"/>
            <a:ext cx="22402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8FBFF"/>
                </a:solidFill>
                <a:latin typeface="Aptos"/>
              </a:defRPr>
            </a:pPr>
            <a:r>
              <a:t>Review matches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1472" y="3401568"/>
            <a:ext cx="224028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C0D4"/>
                </a:solidFill>
                <a:latin typeface="Aptos"/>
              </a:defRPr>
            </a:pPr>
            <a:r>
              <a:t>Use filters and open the full record.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617720"/>
            <a:ext cx="10744200" cy="777240"/>
          </a:xfrm>
          <a:prstGeom prst="round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828032"/>
            <a:ext cx="16459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1BBEAA"/>
                </a:solidFill>
                <a:latin typeface="Aptos"/>
              </a:defRPr>
            </a:pPr>
            <a:r>
              <a:t>SUPPORTING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782312"/>
            <a:ext cx="81381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8FBFF"/>
                </a:solidFill>
                <a:latin typeface="Aptos"/>
              </a:defRPr>
            </a:pPr>
            <a:r>
              <a:t>Node.js + Express APIs  •  Local accounts  •  Java DSA console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687568"/>
            <a:ext cx="10698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EC0D4"/>
                </a:solidFill>
                <a:latin typeface="Aptos"/>
              </a:defRPr>
            </a:pPr>
            <a:r>
              <a:t>The browser handles the interface; the local server loads records and returns search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411480" cy="50292"/>
          </a:xfrm>
          <a:prstGeom prst="rect">
            <a:avLst/>
          </a:prstGeom>
          <a:solidFill>
            <a:srgbClr val="1B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1BBEAA"/>
                </a:solidFill>
                <a:latin typeface="Aptos"/>
              </a:defRPr>
            </a:pPr>
            <a:r>
              <a:t>FEATURES &amp;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AEC0D4"/>
                </a:solidFill>
                <a:latin typeface="Aptos"/>
              </a:defRPr>
            </a:pPr>
            <a:r>
              <a:t>05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4572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EC0D4"/>
                </a:solidFill>
                <a:latin typeface="Aptos"/>
              </a:defRPr>
            </a:pPr>
            <a:r>
              <a:t>MEDISEARCH  •  DSA-3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43000"/>
            <a:ext cx="77724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8FBFF"/>
                </a:solidFill>
                <a:latin typeface="Aptos"/>
              </a:defRPr>
            </a:pPr>
            <a:r>
              <a:t>Core features and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114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1BBEAA"/>
                </a:solidFill>
                <a:latin typeface="Aptos"/>
              </a:defRPr>
            </a:pPr>
            <a:r>
              <a:t>APPLICATION FEATURES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258568"/>
            <a:ext cx="109728" cy="109728"/>
          </a:xfrm>
          <a:prstGeom prst="ellipse">
            <a:avLst/>
          </a:prstGeom>
          <a:solidFill>
            <a:srgbClr val="1B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212848"/>
            <a:ext cx="3474720" cy="2468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8FBFF"/>
                </a:solidFill>
                <a:latin typeface="Aptos"/>
              </a:defRPr>
            </a:pPr>
            <a:r>
              <a:t>Login &amp; signup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487168"/>
            <a:ext cx="35661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AEC0D4"/>
                </a:solidFill>
                <a:latin typeface="Aptos"/>
              </a:defRPr>
            </a:pPr>
            <a:r>
              <a:t>Local user authentication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008375"/>
            <a:ext cx="109728" cy="109728"/>
          </a:xfrm>
          <a:prstGeom prst="ellipse">
            <a:avLst/>
          </a:prstGeom>
          <a:solidFill>
            <a:srgbClr val="1B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962656"/>
            <a:ext cx="3474720" cy="2468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8FBFF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236975"/>
            <a:ext cx="35661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AEC0D4"/>
                </a:solidFill>
                <a:latin typeface="Aptos"/>
              </a:defRPr>
            </a:pPr>
            <a:r>
              <a:t>Patient and severity summaries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758183"/>
            <a:ext cx="109728" cy="109728"/>
          </a:xfrm>
          <a:prstGeom prst="ellipse">
            <a:avLst/>
          </a:prstGeom>
          <a:solidFill>
            <a:srgbClr val="1B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712463"/>
            <a:ext cx="3474720" cy="2468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8FBFF"/>
                </a:solidFill>
                <a:latin typeface="Aptos"/>
              </a:defRPr>
            </a:pPr>
            <a:r>
              <a:t>Search &amp; filters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986783"/>
            <a:ext cx="35661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AEC0D4"/>
                </a:solidFill>
                <a:latin typeface="Aptos"/>
              </a:defRPr>
            </a:pPr>
            <a:r>
              <a:t>Disease and status filtering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507992"/>
            <a:ext cx="109728" cy="109728"/>
          </a:xfrm>
          <a:prstGeom prst="ellipse">
            <a:avLst/>
          </a:prstGeom>
          <a:solidFill>
            <a:srgbClr val="1B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462272"/>
            <a:ext cx="3474720" cy="2468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8FBFF"/>
                </a:solidFill>
                <a:latin typeface="Aptos"/>
              </a:defRPr>
            </a:pPr>
            <a:r>
              <a:t>Record details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736592"/>
            <a:ext cx="35661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AEC0D4"/>
                </a:solidFill>
                <a:latin typeface="Aptos"/>
              </a:defRPr>
            </a:pPr>
            <a:r>
              <a:t>View available fields in one place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1828800"/>
            <a:ext cx="4754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4E97FF"/>
                </a:solidFill>
                <a:latin typeface="Aptos"/>
              </a:defRPr>
            </a:pPr>
            <a:r>
              <a:t>SEARCH METHODS IN WEB APP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240280"/>
            <a:ext cx="2834640" cy="1097280"/>
          </a:xfrm>
          <a:prstGeom prst="round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92040" y="2240280"/>
            <a:ext cx="54864" cy="1097280"/>
          </a:xfrm>
          <a:prstGeom prst="rect">
            <a:avLst/>
          </a:prstGeom>
          <a:solidFill>
            <a:srgbClr val="1B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93207" y="2377440"/>
            <a:ext cx="24688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8FBFF"/>
                </a:solidFill>
                <a:latin typeface="Aptos"/>
              </a:defRPr>
            </a:pPr>
            <a:r>
              <a:t>KMP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3207" y="2761488"/>
            <a:ext cx="2450592" cy="50291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AEC0D4"/>
                </a:solidFill>
                <a:latin typeface="Aptos"/>
              </a:defRPr>
            </a:pPr>
            <a:r>
              <a:t>Uses a prefix table to avoid repeated comparisons.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8" y="2240280"/>
            <a:ext cx="2834640" cy="1097280"/>
          </a:xfrm>
          <a:prstGeom prst="round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73568" y="2240280"/>
            <a:ext cx="54864" cy="1097280"/>
          </a:xfrm>
          <a:prstGeom prst="rect">
            <a:avLst/>
          </a:prstGeom>
          <a:solidFill>
            <a:srgbClr val="4E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4736" y="2377440"/>
            <a:ext cx="24688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8FBFF"/>
                </a:solidFill>
                <a:latin typeface="Aptos"/>
              </a:defRPr>
            </a:pPr>
            <a:r>
              <a:t>Rabin–Karp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2761488"/>
            <a:ext cx="2450592" cy="50291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AEC0D4"/>
                </a:solidFill>
                <a:latin typeface="Aptos"/>
              </a:defRPr>
            </a:pPr>
            <a:r>
              <a:t>Uses a rolling hash to find possible matches.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92040" y="3566160"/>
            <a:ext cx="5916168" cy="1097280"/>
          </a:xfrm>
          <a:prstGeom prst="round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92040" y="3566160"/>
            <a:ext cx="54864" cy="1097280"/>
          </a:xfrm>
          <a:prstGeom prst="rect">
            <a:avLst/>
          </a:prstGeom>
          <a:solidFill>
            <a:srgbClr val="FF8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93207" y="3703320"/>
            <a:ext cx="5550407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8FBFF"/>
                </a:solidFill>
                <a:latin typeface="Aptos"/>
              </a:defRPr>
            </a:pPr>
            <a:r>
              <a:t>Suffix Array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3207" y="4087368"/>
            <a:ext cx="5532120" cy="50291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AEC0D4"/>
                </a:solidFill>
                <a:latin typeface="Aptos"/>
              </a:defRPr>
            </a:pPr>
            <a:r>
              <a:t>Sorts suffix positions and searches the indexed text.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4937760"/>
            <a:ext cx="2560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1BBEAA"/>
                </a:solidFill>
                <a:latin typeface="Aptos"/>
              </a:defRPr>
            </a:pPr>
            <a:r>
              <a:t>JAVA DSA TOOLKIT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5285232"/>
            <a:ext cx="6217920" cy="777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C0D4"/>
                </a:solidFill>
                <a:latin typeface="Aptos"/>
              </a:defRPr>
            </a:pPr>
            <a:r>
              <a:t>Z Algorithm • Trie • Edit Distance • Aho–Corasick • TSP • Matching • Max Flow • Knapsack • Miller–Rabin • Reservoir Sampling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411480" cy="50292"/>
          </a:xfrm>
          <a:prstGeom prst="rect">
            <a:avLst/>
          </a:prstGeom>
          <a:solidFill>
            <a:srgbClr val="1B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1BBEAA"/>
                </a:solidFill>
                <a:latin typeface="Aptos"/>
              </a:defRPr>
            </a:pPr>
            <a:r>
              <a:t>APPLICATION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AEC0D4"/>
                </a:solidFill>
                <a:latin typeface="Aptos"/>
              </a:defRPr>
            </a:pPr>
            <a:r>
              <a:t>06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4572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EC0D4"/>
                </a:solidFill>
                <a:latin typeface="Aptos"/>
              </a:defRPr>
            </a:pPr>
            <a:r>
              <a:t>MEDISEARCH  •  DSA-3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43000"/>
            <a:ext cx="96012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F8FBFF"/>
                </a:solidFill>
                <a:latin typeface="Aptos"/>
              </a:defRPr>
            </a:pPr>
            <a:r>
              <a:t>What is MediSearch designed to achieve?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5166360" cy="1280160"/>
          </a:xfrm>
          <a:prstGeom prst="round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54864" cy="1280160"/>
          </a:xfrm>
          <a:prstGeom prst="rect">
            <a:avLst/>
          </a:prstGeom>
          <a:solidFill>
            <a:srgbClr val="1B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94560"/>
            <a:ext cx="4800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8FBFF"/>
                </a:solidFill>
                <a:latin typeface="Aptos"/>
              </a:defRPr>
            </a:pPr>
            <a:r>
              <a:t>Find records faster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782312" cy="68579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EC0D4"/>
                </a:solidFill>
                <a:latin typeface="Aptos"/>
              </a:defRPr>
            </a:pPr>
            <a:r>
              <a:t>Reduce manual effort when searching a synthetic record collection.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57400"/>
            <a:ext cx="5166360" cy="1280160"/>
          </a:xfrm>
          <a:prstGeom prst="round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057400"/>
            <a:ext cx="54864" cy="1280160"/>
          </a:xfrm>
          <a:prstGeom prst="rect">
            <a:avLst/>
          </a:prstGeom>
          <a:solidFill>
            <a:srgbClr val="4E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2194560"/>
            <a:ext cx="4800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8FBFF"/>
                </a:solidFill>
                <a:latin typeface="Aptos"/>
              </a:defRPr>
            </a:pPr>
            <a:r>
              <a:t>Learn through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578608"/>
            <a:ext cx="4782312" cy="68579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EC0D4"/>
                </a:solidFill>
                <a:latin typeface="Aptos"/>
              </a:defRPr>
            </a:pPr>
            <a:r>
              <a:t>Connect DSA theory with a working application.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03320"/>
            <a:ext cx="5166360" cy="1280160"/>
          </a:xfrm>
          <a:prstGeom prst="round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703320"/>
            <a:ext cx="54864" cy="1280160"/>
          </a:xfrm>
          <a:prstGeom prst="rect">
            <a:avLst/>
          </a:prstGeom>
          <a:solidFill>
            <a:srgbClr val="FF8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840480"/>
            <a:ext cx="4800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8FBFF"/>
                </a:solidFill>
                <a:latin typeface="Aptos"/>
              </a:defRPr>
            </a:pPr>
            <a:r>
              <a:t>Compare approaches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224528"/>
            <a:ext cx="4782312" cy="68579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EC0D4"/>
                </a:solidFill>
                <a:latin typeface="Aptos"/>
              </a:defRPr>
            </a:pPr>
            <a:r>
              <a:t>Show different string-search methods on similar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166360" cy="1280160"/>
          </a:xfrm>
          <a:prstGeom prst="round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703320"/>
            <a:ext cx="54864" cy="1280160"/>
          </a:xfrm>
          <a:prstGeom prst="rect">
            <a:avLst/>
          </a:prstGeom>
          <a:solidFill>
            <a:srgbClr val="1B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7" y="3840480"/>
            <a:ext cx="4800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8FBFF"/>
                </a:solidFill>
                <a:latin typeface="Aptos"/>
              </a:defRPr>
            </a:pPr>
            <a:r>
              <a:t>Support demonstrations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4224528"/>
            <a:ext cx="4782312" cy="68579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EC0D4"/>
                </a:solidFill>
                <a:latin typeface="Aptos"/>
              </a:defRPr>
            </a:pPr>
            <a:r>
              <a:t>Use the Java console to demonstrate more algorithms.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5486400"/>
            <a:ext cx="10698480" cy="502920"/>
          </a:xfrm>
          <a:prstGeom prst="roundRect">
            <a:avLst/>
          </a:prstGeom>
          <a:solidFill>
            <a:srgbClr val="23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632704"/>
            <a:ext cx="103327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C9F7EC"/>
                </a:solidFill>
                <a:latin typeface="Aptos"/>
              </a:defRPr>
            </a:pPr>
            <a:r>
              <a:t>Academic demonstration only • Synthetic records • Not for clinical 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411480" cy="50292"/>
          </a:xfrm>
          <a:prstGeom prst="rect">
            <a:avLst/>
          </a:prstGeom>
          <a:solidFill>
            <a:srgbClr val="1B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1BBEAA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AEC0D4"/>
                </a:solidFill>
                <a:latin typeface="Aptos"/>
              </a:defRPr>
            </a:pPr>
            <a:r>
              <a:t>07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4572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EC0D4"/>
                </a:solidFill>
                <a:latin typeface="Aptos"/>
              </a:defRPr>
            </a:pPr>
            <a:r>
              <a:t>MEDISEARCH  •  DSA-3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43000"/>
            <a:ext cx="59436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8FBFF"/>
                </a:solidFill>
                <a:latin typeface="Aptos"/>
              </a:defRPr>
            </a:pPr>
            <a:r>
              <a:t>Key advantages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11680"/>
            <a:ext cx="3429000" cy="1261872"/>
          </a:xfrm>
          <a:prstGeom prst="round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212848"/>
            <a:ext cx="310896" cy="310896"/>
          </a:xfrm>
          <a:prstGeom prst="ellipse">
            <a:avLst/>
          </a:prstGeom>
          <a:solidFill>
            <a:srgbClr val="1B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267712"/>
            <a:ext cx="256032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800" b="1">
                <a:solidFill>
                  <a:srgbClr val="0E1D3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94560"/>
            <a:ext cx="25603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8FBFF"/>
                </a:solidFill>
                <a:latin typeface="Aptos"/>
              </a:defRPr>
            </a:pPr>
            <a:r>
              <a:t>Easy to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670048"/>
            <a:ext cx="2999232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C0D4"/>
                </a:solidFill>
                <a:latin typeface="Aptos"/>
              </a:defRPr>
            </a:pPr>
            <a:r>
              <a:t>One dashboard for search, filters and details.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2011680"/>
            <a:ext cx="3429000" cy="1261872"/>
          </a:xfrm>
          <a:prstGeom prst="round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3440" y="2212848"/>
            <a:ext cx="310896" cy="310896"/>
          </a:xfrm>
          <a:prstGeom prst="ellipse">
            <a:avLst/>
          </a:prstGeom>
          <a:solidFill>
            <a:srgbClr val="4E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2267712"/>
            <a:ext cx="256032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800" b="1">
                <a:solidFill>
                  <a:srgbClr val="0E1D3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194560"/>
            <a:ext cx="25603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8FBFF"/>
                </a:solidFill>
                <a:latin typeface="Aptos"/>
              </a:defRPr>
            </a:pPr>
            <a:r>
              <a:t>Multiple algorithms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2670048"/>
            <a:ext cx="2999232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C0D4"/>
                </a:solidFill>
                <a:latin typeface="Aptos"/>
              </a:defRPr>
            </a:pPr>
            <a:r>
              <a:t>Compare KMP, Rabin–Karp and Suffix Array.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11311" y="2011680"/>
            <a:ext cx="3429000" cy="1261872"/>
          </a:xfrm>
          <a:prstGeom prst="round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2480" y="2212848"/>
            <a:ext cx="310896" cy="310896"/>
          </a:xfrm>
          <a:prstGeom prst="ellipse">
            <a:avLst/>
          </a:prstGeom>
          <a:solidFill>
            <a:srgbClr val="FF8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9911" y="2267712"/>
            <a:ext cx="256032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800" b="1">
                <a:solidFill>
                  <a:srgbClr val="0E1D3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194560"/>
            <a:ext cx="25603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8FBFF"/>
                </a:solidFill>
                <a:latin typeface="Aptos"/>
              </a:defRPr>
            </a:pPr>
            <a:r>
              <a:t>Modular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670048"/>
            <a:ext cx="2999232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C0D4"/>
                </a:solidFill>
                <a:latin typeface="Aptos"/>
              </a:defRPr>
            </a:pPr>
            <a:r>
              <a:t>Web app and Java algorithms are separated.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657600"/>
            <a:ext cx="3429000" cy="1261872"/>
          </a:xfrm>
          <a:prstGeom prst="round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3858768"/>
            <a:ext cx="310896" cy="310896"/>
          </a:xfrm>
          <a:prstGeom prst="ellipse">
            <a:avLst/>
          </a:prstGeom>
          <a:solidFill>
            <a:srgbClr val="1B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3913632"/>
            <a:ext cx="256032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800" b="1">
                <a:solidFill>
                  <a:srgbClr val="0E1D3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840480"/>
            <a:ext cx="25603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8FBFF"/>
                </a:solidFill>
                <a:latin typeface="Aptos"/>
              </a:defRPr>
            </a:pPr>
            <a:r>
              <a:t>Local operation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" y="4315968"/>
            <a:ext cx="2999232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C0D4"/>
                </a:solidFill>
                <a:latin typeface="Aptos"/>
              </a:defRPr>
            </a:pPr>
            <a:r>
              <a:t>Runs as a local academic project.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62272" y="3657600"/>
            <a:ext cx="3429000" cy="1261872"/>
          </a:xfrm>
          <a:prstGeom prst="round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3440" y="3858768"/>
            <a:ext cx="310896" cy="310896"/>
          </a:xfrm>
          <a:prstGeom prst="ellipse">
            <a:avLst/>
          </a:prstGeom>
          <a:solidFill>
            <a:srgbClr val="4E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90872" y="3913632"/>
            <a:ext cx="256032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800" b="1">
                <a:solidFill>
                  <a:srgbClr val="0E1D3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840480"/>
            <a:ext cx="25603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8FBFF"/>
                </a:solidFill>
                <a:latin typeface="Aptos"/>
              </a:defRPr>
            </a:pPr>
            <a:r>
              <a:t>Viva friendly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72584" y="4315968"/>
            <a:ext cx="2999232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C0D4"/>
                </a:solidFill>
                <a:latin typeface="Aptos"/>
              </a:defRPr>
            </a:pPr>
            <a:r>
              <a:t>Algorithms can be demonstrated one by one.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11311" y="3657600"/>
            <a:ext cx="3429000" cy="1261872"/>
          </a:xfrm>
          <a:prstGeom prst="round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412480" y="3858768"/>
            <a:ext cx="310896" cy="310896"/>
          </a:xfrm>
          <a:prstGeom prst="ellipse">
            <a:avLst/>
          </a:prstGeom>
          <a:solidFill>
            <a:srgbClr val="FF8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9911" y="3913632"/>
            <a:ext cx="256032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800" b="1">
                <a:solidFill>
                  <a:srgbClr val="0E1D3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3840480"/>
            <a:ext cx="25603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8FBFF"/>
                </a:solidFill>
                <a:latin typeface="Aptos"/>
              </a:defRPr>
            </a:pPr>
            <a:r>
              <a:t>Expandable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1624" y="4315968"/>
            <a:ext cx="2999232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C0D4"/>
                </a:solidFill>
                <a:latin typeface="Aptos"/>
              </a:defRPr>
            </a:pPr>
            <a:r>
              <a:t>Can add more search tools and visualizations.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669280"/>
            <a:ext cx="10698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C0D4"/>
                </a:solidFill>
                <a:latin typeface="Aptos"/>
              </a:defRPr>
            </a:pPr>
            <a:r>
              <a:t>Safety note: no real patient data is used; MediSearch does not provide diagnosis or treatment advice.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480560" y="640080"/>
            <a:ext cx="3200400" cy="3200400"/>
          </a:xfrm>
          <a:prstGeom prst="ellipse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74920" y="1234440"/>
            <a:ext cx="2011680" cy="2011680"/>
          </a:xfrm>
          <a:prstGeom prst="ellipse">
            <a:avLst/>
          </a:prstGeom>
          <a:solidFill>
            <a:srgbClr val="0E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25312" y="1572768"/>
            <a:ext cx="320040" cy="1325880"/>
          </a:xfrm>
          <a:prstGeom prst="rect">
            <a:avLst/>
          </a:prstGeom>
          <a:solidFill>
            <a:srgbClr val="1B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13248" y="2075688"/>
            <a:ext cx="1325880" cy="320040"/>
          </a:xfrm>
          <a:prstGeom prst="rect">
            <a:avLst/>
          </a:prstGeom>
          <a:solidFill>
            <a:srgbClr val="1B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6120" y="4069080"/>
            <a:ext cx="566928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3400" b="1">
                <a:solidFill>
                  <a:srgbClr val="F8FB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4828032"/>
            <a:ext cx="56692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1700" b="0">
                <a:solidFill>
                  <a:srgbClr val="C9F7EC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5440680"/>
            <a:ext cx="1554480" cy="50292"/>
          </a:xfrm>
          <a:prstGeom prst="rect">
            <a:avLst/>
          </a:prstGeom>
          <a:solidFill>
            <a:srgbClr val="1B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5715000"/>
            <a:ext cx="71323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AEC0D4"/>
                </a:solidFill>
                <a:latin typeface="Aptos"/>
              </a:defRPr>
            </a:pPr>
            <a:r>
              <a:t>M. Vignesh  •  V. G. Shanumukha Sai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6172200"/>
            <a:ext cx="45720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900" b="1">
                <a:solidFill>
                  <a:srgbClr val="1BBEAA"/>
                </a:solidFill>
                <a:latin typeface="Aptos"/>
              </a:defRPr>
            </a:pPr>
            <a:r>
              <a:t>MEDISEARCH  |  DSA-3  |  2026–27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