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Tomorrow" panose="020B0604020202020204" charset="0"/>
      <p:regular r:id="rId11"/>
    </p:embeddedFont>
    <p:embeddedFont>
      <p:font typeface="Tomorrow Bold" panose="020B0604020202020204" charset="0"/>
      <p:regular r:id="rId12"/>
    </p:embeddedFont>
    <p:embeddedFont>
      <p:font typeface="Tomorrow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D037A-7ACE-4F24-904D-62594530849F}" v="1" dt="2026-07-31T04:38:28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nu Varanasi" userId="d83908974b54a158" providerId="LiveId" clId="{56409969-0599-4037-A967-97C29454B4BF}"/>
    <pc:docChg chg="custSel modSld">
      <pc:chgData name="Shannu Varanasi" userId="d83908974b54a158" providerId="LiveId" clId="{56409969-0599-4037-A967-97C29454B4BF}" dt="2026-07-31T04:39:34.059" v="81" actId="1076"/>
      <pc:docMkLst>
        <pc:docMk/>
      </pc:docMkLst>
      <pc:sldChg chg="addSp modSp mod">
        <pc:chgData name="Shannu Varanasi" userId="d83908974b54a158" providerId="LiveId" clId="{56409969-0599-4037-A967-97C29454B4BF}" dt="2026-07-31T04:36:53.043" v="1" actId="1076"/>
        <pc:sldMkLst>
          <pc:docMk/>
          <pc:sldMk cId="0" sldId="257"/>
        </pc:sldMkLst>
        <pc:picChg chg="add mod">
          <ac:chgData name="Shannu Varanasi" userId="d83908974b54a158" providerId="LiveId" clId="{56409969-0599-4037-A967-97C29454B4BF}" dt="2026-07-31T04:36:53.043" v="1" actId="1076"/>
          <ac:picMkLst>
            <pc:docMk/>
            <pc:sldMk cId="0" sldId="257"/>
            <ac:picMk id="5" creationId="{8A1FAF2A-7E27-52C8-CB10-003B1B9A43CB}"/>
          </ac:picMkLst>
        </pc:picChg>
      </pc:sldChg>
      <pc:sldChg chg="addSp modSp mod">
        <pc:chgData name="Shannu Varanasi" userId="d83908974b54a158" providerId="LiveId" clId="{56409969-0599-4037-A967-97C29454B4BF}" dt="2026-07-31T04:37:04.770" v="3" actId="1076"/>
        <pc:sldMkLst>
          <pc:docMk/>
          <pc:sldMk cId="0" sldId="258"/>
        </pc:sldMkLst>
        <pc:picChg chg="add mod">
          <ac:chgData name="Shannu Varanasi" userId="d83908974b54a158" providerId="LiveId" clId="{56409969-0599-4037-A967-97C29454B4BF}" dt="2026-07-31T04:37:04.770" v="3" actId="1076"/>
          <ac:picMkLst>
            <pc:docMk/>
            <pc:sldMk cId="0" sldId="258"/>
            <ac:picMk id="8" creationId="{FDFF4166-AA7E-082F-E07E-A5576D5A7E2A}"/>
          </ac:picMkLst>
        </pc:picChg>
      </pc:sldChg>
      <pc:sldChg chg="addSp modSp mod">
        <pc:chgData name="Shannu Varanasi" userId="d83908974b54a158" providerId="LiveId" clId="{56409969-0599-4037-A967-97C29454B4BF}" dt="2026-07-31T04:38:28.812" v="15" actId="27636"/>
        <pc:sldMkLst>
          <pc:docMk/>
          <pc:sldMk cId="0" sldId="259"/>
        </pc:sldMkLst>
        <pc:spChg chg="mod">
          <ac:chgData name="Shannu Varanasi" userId="d83908974b54a158" providerId="LiveId" clId="{56409969-0599-4037-A967-97C29454B4BF}" dt="2026-07-31T04:38:28.812" v="15" actId="27636"/>
          <ac:spMkLst>
            <pc:docMk/>
            <pc:sldMk cId="0" sldId="259"/>
            <ac:spMk id="32" creationId="{00000000-0000-0000-0000-000000000000}"/>
          </ac:spMkLst>
        </pc:spChg>
        <pc:picChg chg="add mod">
          <ac:chgData name="Shannu Varanasi" userId="d83908974b54a158" providerId="LiveId" clId="{56409969-0599-4037-A967-97C29454B4BF}" dt="2026-07-31T04:37:13.257" v="5" actId="1076"/>
          <ac:picMkLst>
            <pc:docMk/>
            <pc:sldMk cId="0" sldId="259"/>
            <ac:picMk id="35" creationId="{2927ED0E-E5E6-B888-0F92-4E5DBB14E3CE}"/>
          </ac:picMkLst>
        </pc:picChg>
      </pc:sldChg>
      <pc:sldChg chg="addSp modSp mod">
        <pc:chgData name="Shannu Varanasi" userId="d83908974b54a158" providerId="LiveId" clId="{56409969-0599-4037-A967-97C29454B4BF}" dt="2026-07-31T04:37:22.273" v="7" actId="1076"/>
        <pc:sldMkLst>
          <pc:docMk/>
          <pc:sldMk cId="0" sldId="260"/>
        </pc:sldMkLst>
        <pc:picChg chg="add mod">
          <ac:chgData name="Shannu Varanasi" userId="d83908974b54a158" providerId="LiveId" clId="{56409969-0599-4037-A967-97C29454B4BF}" dt="2026-07-31T04:37:22.273" v="7" actId="1076"/>
          <ac:picMkLst>
            <pc:docMk/>
            <pc:sldMk cId="0" sldId="260"/>
            <ac:picMk id="41" creationId="{9517595C-A8BD-2FC0-7391-EEE548B76E75}"/>
          </ac:picMkLst>
        </pc:picChg>
      </pc:sldChg>
      <pc:sldChg chg="addSp modSp mod">
        <pc:chgData name="Shannu Varanasi" userId="d83908974b54a158" providerId="LiveId" clId="{56409969-0599-4037-A967-97C29454B4BF}" dt="2026-07-31T04:37:32.384" v="9" actId="1076"/>
        <pc:sldMkLst>
          <pc:docMk/>
          <pc:sldMk cId="0" sldId="261"/>
        </pc:sldMkLst>
        <pc:picChg chg="add mod">
          <ac:chgData name="Shannu Varanasi" userId="d83908974b54a158" providerId="LiveId" clId="{56409969-0599-4037-A967-97C29454B4BF}" dt="2026-07-31T04:37:32.384" v="9" actId="1076"/>
          <ac:picMkLst>
            <pc:docMk/>
            <pc:sldMk cId="0" sldId="261"/>
            <ac:picMk id="17" creationId="{1A68F1F0-4AB9-C5B1-412F-06DE1DD76404}"/>
          </ac:picMkLst>
        </pc:picChg>
      </pc:sldChg>
      <pc:sldChg chg="addSp modSp mod">
        <pc:chgData name="Shannu Varanasi" userId="d83908974b54a158" providerId="LiveId" clId="{56409969-0599-4037-A967-97C29454B4BF}" dt="2026-07-31T04:37:45.029" v="11" actId="1076"/>
        <pc:sldMkLst>
          <pc:docMk/>
          <pc:sldMk cId="0" sldId="262"/>
        </pc:sldMkLst>
        <pc:picChg chg="add mod">
          <ac:chgData name="Shannu Varanasi" userId="d83908974b54a158" providerId="LiveId" clId="{56409969-0599-4037-A967-97C29454B4BF}" dt="2026-07-31T04:37:45.029" v="11" actId="1076"/>
          <ac:picMkLst>
            <pc:docMk/>
            <pc:sldMk cId="0" sldId="262"/>
            <ac:picMk id="17" creationId="{E6888F6E-3942-D83E-10C4-BBDAA8896C85}"/>
          </ac:picMkLst>
        </pc:picChg>
      </pc:sldChg>
      <pc:sldChg chg="addSp modSp mod">
        <pc:chgData name="Shannu Varanasi" userId="d83908974b54a158" providerId="LiveId" clId="{56409969-0599-4037-A967-97C29454B4BF}" dt="2026-07-31T04:39:34.059" v="81" actId="1076"/>
        <pc:sldMkLst>
          <pc:docMk/>
          <pc:sldMk cId="0" sldId="263"/>
        </pc:sldMkLst>
        <pc:spChg chg="mod">
          <ac:chgData name="Shannu Varanasi" userId="d83908974b54a158" providerId="LiveId" clId="{56409969-0599-4037-A967-97C29454B4BF}" dt="2026-07-31T04:38:16.962" v="13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annu Varanasi" userId="d83908974b54a158" providerId="LiveId" clId="{56409969-0599-4037-A967-97C29454B4BF}" dt="2026-07-31T04:37:56.412" v="12" actId="6549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Shannu Varanasi" userId="d83908974b54a158" providerId="LiveId" clId="{56409969-0599-4037-A967-97C29454B4BF}" dt="2026-07-31T04:39:34.059" v="81" actId="1076"/>
          <ac:spMkLst>
            <pc:docMk/>
            <pc:sldMk cId="0" sldId="263"/>
            <ac:spMk id="5" creationId="{8026F247-54A2-7519-8204-43876C0F1C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27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097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MediSearch — Intelligent Medical Information Retrieval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22538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V.G </a:t>
            </a:r>
            <a:r>
              <a:rPr lang="en-US" sz="11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Shanmukhasai</a:t>
            </a: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– 2520030341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</a:rPr>
              <a:t>    M. Vignesh - 2520030065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Dept. of Computer Science &amp; Engineering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09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Abstract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87488"/>
            <a:ext cx="8151763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MediSearch is an intelligent medical information retrieval system that enables users to search diseases, medicines, symptoms, treatments, and evidence-based healthcare content with high speed and precision. Unlike conventional keyword-only search, MediSearch integrates advanced data structures and algorithmic techniques — including tries and string-matching (KMP, Rabin–Karp, Aho–Corasick), dynamic programming for edit-distance, graph-based similarity and ranking, approximation strategies for scalable queries, and randomized hashing for fast deduplication — to deliver typo-tolerant, context-aware, and efficiently ranked results over large medical corpora. The project implements these concepts end-to-end: client-side smart auto-completion (Trie + prefix queries), backend fuzzy matching (Edit Distance + KMP/Rabin–Karp hybrids), and graph-based recommendation/ranking for related conditions and drug interactions. MediSearch is designed for practical use by clinicians and researchers, demonstrating how Advanced Algorithms syllabus topics map directly to real-world healthcare search challenges while preserving scalability, responsiveness, and relevance.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FAF2A-7E27-52C8-CB10-003B1B9A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567" y="4782709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789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9347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 Current medical search systems face multiple issues when applied to large healthcare datasets: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006575"/>
            <a:ext cx="472276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Slow query response and indexing on large corpora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Irrelevant, keyword-driven results lacking semantic ranking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Poor handling of misspellings and typos common in clinical notes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Inefficient retrieval and high latency for complex queries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Limited intelligent recommendations for related diagnoses or drug interactions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72516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Healthcare professionals require a fast, accurate, and scalable platform that supports typo-tolerance, contextual ranking, and intelligent recommendations for clinical decision support.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F4166-AA7E-082F-E07E-A5576D5A7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942" y="4800867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75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Proposed Functionalities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5104"/>
            <a:ext cx="568375" cy="568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8301" y="955104"/>
            <a:ext cx="128788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Disease Search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68301" y="1174477"/>
            <a:ext cx="128788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Structured matching of disease names, ICD codes, and synonyms (Aho–Corasick, Trie).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993" y="955104"/>
            <a:ext cx="568375" cy="568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2175" y="955104"/>
            <a:ext cx="128788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Medicine Search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232175" y="1174477"/>
            <a:ext cx="1287884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Drug lookup, dosage hints, and interactions using graph traversal.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867" y="955104"/>
            <a:ext cx="568375" cy="568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96049" y="955104"/>
            <a:ext cx="128788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Symptom-Based Search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296049" y="1343992"/>
            <a:ext cx="128788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Reverse lookup from symptom sets to likely conditions (approximate matching).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741" y="955104"/>
            <a:ext cx="568375" cy="568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59923" y="955104"/>
            <a:ext cx="128795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Treatment Search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359923" y="1174477"/>
            <a:ext cx="1287959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Evidence-ranked treatments and protocol retrieval backed by ranking algorithms.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123331"/>
            <a:ext cx="568375" cy="5683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68301" y="2123331"/>
            <a:ext cx="128788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Smart Auto-Completion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1168301" y="2512219"/>
            <a:ext cx="128788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Prefix search with Trie for instant, ranked suggestions and typo tolerance.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9993" y="2123331"/>
            <a:ext cx="568375" cy="5683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32175" y="2123331"/>
            <a:ext cx="128788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Spell Correction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3232175" y="2342704"/>
            <a:ext cx="1287884" cy="76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Edit-distance and probabilistic correction using dynamic programming and hashing.</a:t>
            </a:r>
            <a:endParaRPr lang="en-US" sz="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3867" y="2123331"/>
            <a:ext cx="568375" cy="5683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96049" y="2123331"/>
            <a:ext cx="128788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Intelligent Ranking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5296049" y="2512219"/>
            <a:ext cx="128788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Graph-based scoring and approximation algorithms for relevance and speed.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7741" y="2123331"/>
            <a:ext cx="568375" cy="5683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59923" y="2123331"/>
            <a:ext cx="1287959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Drug Interaction Search</a:t>
            </a:r>
            <a:endParaRPr lang="en-US" sz="1050" dirty="0"/>
          </a:p>
        </p:txBody>
      </p:sp>
      <p:sp>
        <p:nvSpPr>
          <p:cNvPr id="26" name="Text 16"/>
          <p:cNvSpPr/>
          <p:nvPr/>
        </p:nvSpPr>
        <p:spPr>
          <a:xfrm>
            <a:off x="7359923" y="2512219"/>
            <a:ext cx="1287959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 traversal for interaction detection and safety alerts.</a:t>
            </a:r>
            <a:endParaRPr lang="en-US" sz="8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291557"/>
            <a:ext cx="568375" cy="5683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168301" y="3291557"/>
            <a:ext cx="128788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Medical Article Search</a:t>
            </a:r>
            <a:endParaRPr lang="en-US" sz="1050" dirty="0"/>
          </a:p>
        </p:txBody>
      </p:sp>
      <p:sp>
        <p:nvSpPr>
          <p:cNvPr id="29" name="Text 18"/>
          <p:cNvSpPr/>
          <p:nvPr/>
        </p:nvSpPr>
        <p:spPr>
          <a:xfrm>
            <a:off x="1168301" y="3680445"/>
            <a:ext cx="1287884" cy="76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Full-text matching with KMP/Rabin–Karp hybrids and Aho–Corasick for multi-pattern queries.</a:t>
            </a:r>
            <a:endParaRPr lang="en-US" sz="8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9993" y="3291557"/>
            <a:ext cx="568375" cy="56837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232175" y="3291557"/>
            <a:ext cx="128788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Scalable DB &amp; UI</a:t>
            </a: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3232175" y="3510930"/>
            <a:ext cx="128788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 retrieval, responsive UI, and a user-friendly glassmorphism interface.</a:t>
            </a:r>
            <a:endParaRPr lang="en-US" sz="850" dirty="0"/>
          </a:p>
        </p:txBody>
      </p:sp>
      <p:sp>
        <p:nvSpPr>
          <p:cNvPr id="33" name="Text 21"/>
          <p:cNvSpPr/>
          <p:nvPr/>
        </p:nvSpPr>
        <p:spPr>
          <a:xfrm>
            <a:off x="496119" y="4540374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Workflow diagram: User → Query Parsing → Algorithmic Matching (Trie / KMP / Edit Distance) → Graph Ranking → Ranked Results.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927ED0E-E5E6-B888-0F92-4E5DBB14E3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4024" y="4821646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9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44414"/>
            <a:ext cx="8151763" cy="3194893"/>
          </a:xfrm>
          <a:prstGeom prst="roundRect">
            <a:avLst>
              <a:gd name="adj" fmla="val 66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558007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196033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28768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69890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36552" y="1144414"/>
            <a:ext cx="8860" cy="319489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74" y="1144414"/>
            <a:ext cx="8860" cy="319489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07597" y="1144414"/>
            <a:ext cx="8860" cy="319489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030" y="1149176"/>
            <a:ext cx="2035522" cy="408831"/>
          </a:xfrm>
          <a:custGeom>
            <a:avLst/>
            <a:gdLst/>
            <a:ahLst/>
            <a:cxnLst/>
            <a:rect l="l" t="t" r="r" b="b"/>
            <a:pathLst>
              <a:path w="2035522" h="408831">
                <a:moveTo>
                  <a:pt x="17721" y="0"/>
                </a:moveTo>
                <a:lnTo>
                  <a:pt x="2035522" y="0"/>
                </a:lnTo>
                <a:lnTo>
                  <a:pt x="2035522" y="408831"/>
                </a:lnTo>
                <a:lnTo>
                  <a:pt x="0" y="408831"/>
                </a:lnTo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E1E1DF"/>
          </a:solidFill>
          <a:ln/>
        </p:spPr>
      </p:sp>
      <p:sp>
        <p:nvSpPr>
          <p:cNvPr id="12" name="Text 10"/>
          <p:cNvSpPr/>
          <p:nvPr/>
        </p:nvSpPr>
        <p:spPr>
          <a:xfrm>
            <a:off x="642789" y="123899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6552" y="1149176"/>
            <a:ext cx="2035522" cy="408831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4" name="Text 12"/>
          <p:cNvSpPr/>
          <p:nvPr/>
        </p:nvSpPr>
        <p:spPr>
          <a:xfrm>
            <a:off x="2680692" y="123899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74" y="1149176"/>
            <a:ext cx="2035522" cy="408831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6" name="Text 14"/>
          <p:cNvSpPr/>
          <p:nvPr/>
        </p:nvSpPr>
        <p:spPr>
          <a:xfrm>
            <a:off x="4716214" y="123899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07597" y="1149176"/>
            <a:ext cx="2035522" cy="408831"/>
          </a:xfrm>
          <a:custGeom>
            <a:avLst/>
            <a:gdLst/>
            <a:ahLst/>
            <a:cxnLst/>
            <a:rect l="l" t="t" r="r" b="b"/>
            <a:pathLst>
              <a:path w="2035522" h="408831">
                <a:moveTo>
                  <a:pt x="0" y="0"/>
                </a:moveTo>
                <a:lnTo>
                  <a:pt x="2017801" y="0"/>
                </a:lnTo>
                <a:arcTo wR="17721" hR="17721" stAng="16200000" swAng="5400000"/>
                <a:lnTo>
                  <a:pt x="2035522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E1E1DF"/>
          </a:solidFill>
          <a:ln/>
        </p:spPr>
      </p:sp>
      <p:sp>
        <p:nvSpPr>
          <p:cNvPr id="18" name="Text 16"/>
          <p:cNvSpPr/>
          <p:nvPr/>
        </p:nvSpPr>
        <p:spPr>
          <a:xfrm>
            <a:off x="6751737" y="123899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89" y="1650206"/>
            <a:ext cx="1749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HTML • CSS • JavaScript • React.js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80692" y="165020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Node.js • Express.js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6214" y="165020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MongoDB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51737" y="1650206"/>
            <a:ext cx="1749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Trie, KMP, Rabin–Karp, Aho–Corasick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89" y="2288232"/>
            <a:ext cx="17496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Glassmorphism UI, responsive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80692" y="2288232"/>
            <a:ext cx="17472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REST APIs, indexing services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6214" y="2288232"/>
            <a:ext cx="17472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Document store, inverted indexes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51737" y="2288232"/>
            <a:ext cx="17496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Edit Distance (DP), Graph Algorithms, Approximation, Randomized Hashing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30" y="3287688"/>
            <a:ext cx="2035522" cy="411212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28" name="Text 26"/>
          <p:cNvSpPr/>
          <p:nvPr/>
        </p:nvSpPr>
        <p:spPr>
          <a:xfrm>
            <a:off x="642789" y="337988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Dev Tools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36552" y="3287688"/>
            <a:ext cx="2035522" cy="411212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0" name="Text 28"/>
          <p:cNvSpPr/>
          <p:nvPr/>
        </p:nvSpPr>
        <p:spPr>
          <a:xfrm>
            <a:off x="2680692" y="337988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74" y="3287688"/>
            <a:ext cx="2035522" cy="411212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2" name="Text 30"/>
          <p:cNvSpPr/>
          <p:nvPr/>
        </p:nvSpPr>
        <p:spPr>
          <a:xfrm>
            <a:off x="4716214" y="337988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Testing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07597" y="3287688"/>
            <a:ext cx="2035522" cy="411212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4" name="Text 32"/>
          <p:cNvSpPr/>
          <p:nvPr/>
        </p:nvSpPr>
        <p:spPr>
          <a:xfrm>
            <a:off x="6751737" y="337988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789" y="379109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VS Code • GitHub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80692" y="3791099"/>
            <a:ext cx="17472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React, Express, Mongoose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16214" y="379109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Postman, Jest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51737" y="379109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Docker, Heroku / Cloud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6119" y="44987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Technology logos: React, Node.js, MongoDB, GitHub (displayed as inline icons).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517595C-A8BD-2FC0-7391-EEE548B76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024" y="4781695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8121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System Architecture &amp; Algorithms Mapping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437829"/>
            <a:ext cx="267265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     Core components:       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25119" y="1704975"/>
            <a:ext cx="2215455" cy="2786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Client: React UI with Trie-based autocomplete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Search API: Tokenization, KMP/Rabin–Karp for exact &amp; substring matching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Fuzzy Engine: Edit-distance DP for typo correction and candidate pruning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Ranking Layer: Graph algorithms for related-condition ranking and PageRank-style scoring</a:t>
            </a:r>
            <a:endParaRPr lang="en-US" sz="900" dirty="0"/>
          </a:p>
          <a:p>
            <a:pPr marL="182880" indent="-18288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Scalability: Approximation algorithms and randomized hashing for fast deduplication and sampling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37188" y="1437829"/>
            <a:ext cx="221545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     How syllabus concepts appear in the implementation:       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7188" y="1904033"/>
            <a:ext cx="298996" cy="298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2316" y="1904033"/>
            <a:ext cx="179032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Text Search Concepts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862316" y="2191792"/>
            <a:ext cx="179032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Inverted indexes, multi-pattern matching, token normalization.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7188" y="2746325"/>
            <a:ext cx="298996" cy="2989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62316" y="2746325"/>
            <a:ext cx="179032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String Matching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862316" y="3034085"/>
            <a:ext cx="179032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KMP/Rabin–Karp for fast scans; Aho–Corasick for multi-pattern extraction.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7188" y="3764979"/>
            <a:ext cx="298996" cy="2989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62316" y="3764979"/>
            <a:ext cx="179032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Graph Algorithms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862316" y="4052739"/>
            <a:ext cx="179032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Graph traversal and centrality for recommendations and interaction maps.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68F1F0-4AB9-C5B1-412F-06DE1DD764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942" y="4783633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92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Expected Outcome &amp; Evaluation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164803"/>
            <a:ext cx="3257327" cy="3469407"/>
          </a:xfrm>
          <a:prstGeom prst="roundRect">
            <a:avLst>
              <a:gd name="adj" fmla="val 653"/>
            </a:avLst>
          </a:prstGeom>
          <a:solidFill>
            <a:srgbClr val="E1E1D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306562"/>
            <a:ext cx="297380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Impact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535781" y="2059707"/>
            <a:ext cx="2973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     Fast, relevant retrieval; typo tolerance; clinically useful recommendations; demonstrable reduction in query latency versus baseline keyword search.     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99892" y="1324273"/>
            <a:ext cx="2305422" cy="1327175"/>
          </a:xfrm>
          <a:prstGeom prst="roundRect">
            <a:avLst>
              <a:gd name="adj" fmla="val 1602"/>
            </a:avLst>
          </a:prstGeom>
          <a:solidFill>
            <a:srgbClr val="3C3C3A"/>
          </a:solidFill>
          <a:ln/>
        </p:spPr>
      </p:sp>
      <p:sp>
        <p:nvSpPr>
          <p:cNvPr id="7" name="Text 5"/>
          <p:cNvSpPr/>
          <p:nvPr/>
        </p:nvSpPr>
        <p:spPr>
          <a:xfrm>
            <a:off x="4041651" y="1466031"/>
            <a:ext cx="2021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Performance Goals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41651" y="1829246"/>
            <a:ext cx="20219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Low-latency queries, scalable indexing, efficient memory usage.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47073" y="1324273"/>
            <a:ext cx="2305496" cy="1327175"/>
          </a:xfrm>
          <a:prstGeom prst="roundRect">
            <a:avLst>
              <a:gd name="adj" fmla="val 1602"/>
            </a:avLst>
          </a:prstGeom>
          <a:solidFill>
            <a:srgbClr val="3C3C3A"/>
          </a:solidFill>
          <a:ln/>
        </p:spPr>
      </p:sp>
      <p:sp>
        <p:nvSpPr>
          <p:cNvPr id="10" name="Text 8"/>
          <p:cNvSpPr/>
          <p:nvPr/>
        </p:nvSpPr>
        <p:spPr>
          <a:xfrm>
            <a:off x="6488832" y="1466031"/>
            <a:ext cx="20219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Accuracy Goals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88832" y="1829246"/>
            <a:ext cx="202197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precision &amp; recall on medical queries; improved ranking relevance.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9892" y="2793206"/>
            <a:ext cx="4752677" cy="1100361"/>
          </a:xfrm>
          <a:prstGeom prst="roundRect">
            <a:avLst>
              <a:gd name="adj" fmla="val 1933"/>
            </a:avLst>
          </a:prstGeom>
          <a:solidFill>
            <a:srgbClr val="3C3C3A"/>
          </a:solidFill>
          <a:ln/>
        </p:spPr>
      </p:sp>
      <p:sp>
        <p:nvSpPr>
          <p:cNvPr id="13" name="Text 11"/>
          <p:cNvSpPr/>
          <p:nvPr/>
        </p:nvSpPr>
        <p:spPr>
          <a:xfrm>
            <a:off x="4041651" y="2934965"/>
            <a:ext cx="44691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Educational Goals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41651" y="3298180"/>
            <a:ext cx="446916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Concrete mapping of Advanced Algorithms concepts to system modules for course evaluation.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99892" y="405303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Visual flow: Fast Search → Relevant Results → Improved Decision Making → Better Healthcare Support.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888F6E-3942-D83E-10C4-BBDAA8896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73" y="4829002"/>
            <a:ext cx="2751058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0599" y="22580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79551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6F247-54A2-7519-8204-43876C0F1C94}"/>
              </a:ext>
            </a:extLst>
          </p:cNvPr>
          <p:cNvSpPr txBox="1"/>
          <p:nvPr/>
        </p:nvSpPr>
        <p:spPr>
          <a:xfrm>
            <a:off x="1760104" y="3399052"/>
            <a:ext cx="3706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2520030341 – V.G SHANMUKHASAI</a:t>
            </a:r>
          </a:p>
          <a:p>
            <a:r>
              <a:rPr lang="en-US" sz="1400" dirty="0">
                <a:solidFill>
                  <a:schemeClr val="bg1"/>
                </a:solidFill>
              </a:rPr>
              <a:t>2520030065 – M. VIGNESH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791</Words>
  <Application>Microsoft Office PowerPoint</Application>
  <PresentationFormat>On-screen Show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Tomorrow</vt:lpstr>
      <vt:lpstr>Arial</vt:lpstr>
      <vt:lpstr>Tomorrow Bold</vt:lpstr>
      <vt:lpstr>Tomorrow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Shannu Varanasi</dc:creator>
  <cp:lastModifiedBy>Shannu Varanasi</cp:lastModifiedBy>
  <cp:revision>2</cp:revision>
  <dcterms:created xsi:type="dcterms:W3CDTF">2026-07-30T04:58:33Z</dcterms:created>
  <dcterms:modified xsi:type="dcterms:W3CDTF">2026-07-31T04:39:36Z</dcterms:modified>
</cp:coreProperties>
</file>